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Open with the research-data-entry problem, not the AI stack. Explain this is a synthetic-only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Describe repeated manual transfer, checking and corrections. Do not claim a quantified impact because baseline is not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1. Identify user, beneficiaries and buyer as a hypothesis. Transition to Presenter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Explain instructor-approved one integrated n8n workflow with five owned components. Do not claim five standalone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2. Explain transcript confirmation, schema-bound extraction, manual approval and exported XLSX. Transition to Presenter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3. Demonstrate Telegram scenario. Type the sample if the microphone setup is unreliable. Use synthetic-only data. Show the approval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4. Explain observed evidence: one snapshot, one soft alert and one delivered XLSX, uncalibrated judge 4.6, judge only latency 10.49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4. Explain the HbA1c mismatch and correction; 5/5 factual/grounding/safety/bias, 3/5 format; no extrapolation.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5. Emphasize all business baselines and targets are pending measurement; 8 minutes only planning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5. Describe implemented safeguards and important limitations honestly, including Groq-before-transcript-screening and QA-only traces.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5. Ask for synthetic pilot access and independent reviewers. Targets are not signed commitments. Transition to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presenters. Invite questions and answer from role area. Never claim real patient data, real sales, deployment, validated clinical accuracy or measured ROI.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>
              <a:gd name="adj" fmla="val 75000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566928"/>
            <a:ext cx="2231136" cy="338328"/>
          </a:xfrm>
          <a:prstGeom prst="roundRect">
            <a:avLst>
              <a:gd name="adj" fmla="val 40541"/>
            </a:avLst>
          </a:prstGeom>
          <a:solidFill>
            <a:srgbClr val="1C3A46"/>
          </a:solidFill>
          <a:ln w="12700">
            <a:solidFill>
              <a:srgbClr val="1C3A4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585216"/>
            <a:ext cx="2048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E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DEPI GRADUATION PROJECT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17957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</a:t>
            </a:r>
            <a:endParaRPr lang="en-US" sz="47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221992"/>
            <a:ext cx="98755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A9D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the data. Keep the research moving.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880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E7F0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Voice-assisted capture of research variables, with evidence checks, researcher approval and Excel export.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863840" y="4686300"/>
            <a:ext cx="146304" cy="228600"/>
          </a:xfrm>
          <a:prstGeom prst="roundRect">
            <a:avLst>
              <a:gd name="adj" fmla="val 93750"/>
            </a:avLst>
          </a:prstGeom>
          <a:solidFill>
            <a:srgbClr val="49CBBF"/>
          </a:solidFill>
          <a:ln w="12700">
            <a:solidFill>
              <a:srgbClr val="49CBB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9016" y="4594860"/>
            <a:ext cx="146304" cy="41148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94192" y="4457700"/>
            <a:ext cx="146304" cy="68580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9368" y="4636008"/>
            <a:ext cx="146304" cy="329184"/>
          </a:xfrm>
          <a:prstGeom prst="roundRect">
            <a:avLst>
              <a:gd name="adj" fmla="val 93750"/>
            </a:avLst>
          </a:prstGeom>
          <a:solidFill>
            <a:srgbClr val="49CBBF"/>
          </a:solidFill>
          <a:ln w="12700">
            <a:solidFill>
              <a:srgbClr val="49CBB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24544" y="4366260"/>
            <a:ext cx="146304" cy="86868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89720" y="4535424"/>
            <a:ext cx="146304" cy="530352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54896" y="4599432"/>
            <a:ext cx="146304" cy="402336"/>
          </a:xfrm>
          <a:prstGeom prst="roundRect">
            <a:avLst>
              <a:gd name="adj" fmla="val 93750"/>
            </a:avLst>
          </a:prstGeom>
          <a:solidFill>
            <a:srgbClr val="49CBBF"/>
          </a:solidFill>
          <a:ln w="12700">
            <a:solidFill>
              <a:srgbClr val="49CBB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20072" y="4297680"/>
            <a:ext cx="146304" cy="100584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85248" y="4572000"/>
            <a:ext cx="146304" cy="45720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50424" y="4421124"/>
            <a:ext cx="146304" cy="758952"/>
          </a:xfrm>
          <a:prstGeom prst="roundRect">
            <a:avLst>
              <a:gd name="adj" fmla="val 93750"/>
            </a:avLst>
          </a:prstGeom>
          <a:solidFill>
            <a:srgbClr val="49CBBF"/>
          </a:solidFill>
          <a:ln w="12700">
            <a:solidFill>
              <a:srgbClr val="49CBB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0" y="4617720"/>
            <a:ext cx="146304" cy="365760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80776" y="4471416"/>
            <a:ext cx="146304" cy="658368"/>
          </a:xfrm>
          <a:prstGeom prst="roundRect">
            <a:avLst>
              <a:gd name="adj" fmla="val 93750"/>
            </a:avLst>
          </a:prstGeom>
          <a:solidFill>
            <a:srgbClr val="477B89"/>
          </a:solidFill>
          <a:ln w="12700">
            <a:solidFill>
              <a:srgbClr val="477B8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45952" y="4672584"/>
            <a:ext cx="146304" cy="256032"/>
          </a:xfrm>
          <a:prstGeom prst="roundRect">
            <a:avLst>
              <a:gd name="adj" fmla="val 93750"/>
            </a:avLst>
          </a:prstGeom>
          <a:solidFill>
            <a:srgbClr val="49CBBF"/>
          </a:solidFill>
          <a:ln w="12700">
            <a:solidFill>
              <a:srgbClr val="49CBB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764024"/>
            <a:ext cx="5943600" cy="859536"/>
          </a:xfrm>
          <a:prstGeom prst="roundRect">
            <a:avLst>
              <a:gd name="adj" fmla="val 15957"/>
            </a:avLst>
          </a:prstGeom>
          <a:solidFill>
            <a:srgbClr val="152B42"/>
          </a:solidFill>
          <a:ln w="12700">
            <a:solidFill>
              <a:srgbClr val="152B4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4956048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4D2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SYNTHETIC-ONLY RESEARCH PROTOTYPE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612648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2C2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contributors · One instructor-approved integrated n8n workflow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 entry burden repeats at every visit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observations move through several manual steps before they reach a clean spreadsheet.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" y="2103120"/>
            <a:ext cx="2615184" cy="1975104"/>
          </a:xfrm>
          <a:prstGeom prst="roundRect">
            <a:avLst>
              <a:gd name="adj" fmla="val 6944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313432"/>
            <a:ext cx="475488" cy="320040"/>
          </a:xfrm>
          <a:prstGeom prst="roundRect">
            <a:avLst>
              <a:gd name="adj" fmla="val 42857"/>
            </a:avLst>
          </a:prstGeom>
          <a:solidFill>
            <a:srgbClr val="D7F0EC"/>
          </a:solidFill>
          <a:ln w="12700">
            <a:solidFill>
              <a:srgbClr val="D7F0EC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3317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75234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or review notes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2761488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93008" y="2103120"/>
            <a:ext cx="2615184" cy="1975104"/>
          </a:xfrm>
          <a:prstGeom prst="roundRect">
            <a:avLst>
              <a:gd name="adj" fmla="val 6944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5888" y="2313432"/>
            <a:ext cx="475488" cy="320040"/>
          </a:xfrm>
          <a:prstGeom prst="roundRect">
            <a:avLst>
              <a:gd name="adj" fmla="val 42857"/>
            </a:avLst>
          </a:prstGeom>
          <a:solidFill>
            <a:srgbClr val="D7F0EC"/>
          </a:solidFill>
          <a:ln w="12700">
            <a:solidFill>
              <a:srgbClr val="D7F0E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67328" y="23317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75888" y="275234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Re-enter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675888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into a CRF / form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2761488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2103120"/>
            <a:ext cx="2615184" cy="1975104"/>
          </a:xfrm>
          <a:prstGeom prst="roundRect">
            <a:avLst>
              <a:gd name="adj" fmla="val 6944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313432"/>
            <a:ext cx="475488" cy="320040"/>
          </a:xfrm>
          <a:prstGeom prst="roundRect">
            <a:avLst>
              <a:gd name="adj" fmla="val 42857"/>
            </a:avLst>
          </a:prstGeom>
          <a:solidFill>
            <a:srgbClr val="D7F0EC"/>
          </a:solidFill>
          <a:ln w="12700">
            <a:solidFill>
              <a:srgbClr val="D7F0E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3317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75234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omissions and typos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761488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308592" y="2103120"/>
            <a:ext cx="2615184" cy="1975104"/>
          </a:xfrm>
          <a:prstGeom prst="roundRect">
            <a:avLst>
              <a:gd name="adj" fmla="val 6944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91472" y="2313432"/>
            <a:ext cx="475488" cy="320040"/>
          </a:xfrm>
          <a:prstGeom prst="roundRect">
            <a:avLst>
              <a:gd name="adj" fmla="val 42857"/>
            </a:avLst>
          </a:prstGeom>
          <a:solidFill>
            <a:srgbClr val="D7F0EC"/>
          </a:solidFill>
          <a:ln w="12700">
            <a:solidFill>
              <a:srgbClr val="D7F0E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82912" y="2331720"/>
            <a:ext cx="292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491472" y="2752344"/>
            <a:ext cx="2240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333756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Reconcile before analysis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" y="4626864"/>
            <a:ext cx="10972800" cy="877824"/>
          </a:xfrm>
          <a:prstGeom prst="roundRect">
            <a:avLst>
              <a:gd name="adj" fmla="val 15625"/>
            </a:avLst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1248" y="4818888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655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688336" y="4818888"/>
            <a:ext cx="8595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D4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manual entry costs attention and creates rechecking work. The time impact is not yet benchmarked.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AUDIENCE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first user — the clinical researcher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buyer is a pilot hypothesis until the team confirms a budget-owning decision-maker.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3566160" cy="2578608"/>
          </a:xfrm>
          <a:prstGeom prst="roundRect">
            <a:avLst>
              <a:gd name="adj" fmla="val 5319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011680"/>
            <a:ext cx="54864" cy="2578608"/>
          </a:xfrm>
          <a:prstGeom prst="rect">
            <a:avLst>
              <a:gd name="adj" fmla="val 250000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9456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user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6090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researcher / physician-investigator collecting repeated study variables and follow-up records.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4315968" y="2011680"/>
            <a:ext cx="3566160" cy="2578608"/>
          </a:xfrm>
          <a:prstGeom prst="roundRect">
            <a:avLst>
              <a:gd name="adj" fmla="val 5319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5968" y="2011680"/>
            <a:ext cx="54864" cy="2578608"/>
          </a:xfrm>
          <a:prstGeom prst="rect">
            <a:avLst>
              <a:gd name="adj" fmla="val 250000"/>
            </a:avLst>
          </a:prstGeom>
          <a:solidFill>
            <a:srgbClr val="3B8BBE"/>
          </a:solidFill>
          <a:ln w="12700">
            <a:solidFill>
              <a:srgbClr val="3B8BB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219456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Beneficiaries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66090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coordinators, study teams and data managers who receive more consistent approved records.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065008" y="2011680"/>
            <a:ext cx="3566160" cy="2578608"/>
          </a:xfrm>
          <a:prstGeom prst="roundRect">
            <a:avLst>
              <a:gd name="adj" fmla="val 5319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5008" y="2011680"/>
            <a:ext cx="54864" cy="2578608"/>
          </a:xfrm>
          <a:prstGeom prst="rect">
            <a:avLst>
              <a:gd name="adj" fmla="val 250000"/>
            </a:avLst>
          </a:prstGeom>
          <a:solidFill>
            <a:srgbClr val="D39236"/>
          </a:solidFill>
          <a:ln w="12700">
            <a:solidFill>
              <a:srgbClr val="D3923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219456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buyer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660904"/>
            <a:ext cx="313639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investigator, research unit, or hospital/university research administration — not yet confirmed.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576072" y="4983480"/>
            <a:ext cx="11018520" cy="630936"/>
          </a:xfrm>
          <a:prstGeom prst="roundRect">
            <a:avLst>
              <a:gd name="adj" fmla="val 21739"/>
            </a:avLst>
          </a:prstGeom>
          <a:solidFill>
            <a:srgbClr val="14243A"/>
          </a:solidFill>
          <a:ln w="12700">
            <a:solidFill>
              <a:srgbClr val="14243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51389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hypothesis: less repetitive transcription, clearer exceptions, and researcher-controlled approval.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integrated system, five accountable components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instructor approved one connected n8n workflow rather than five separate workflow files.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9496" y="2258568"/>
            <a:ext cx="2157984" cy="2606040"/>
          </a:xfrm>
          <a:prstGeom prst="roundRect">
            <a:avLst>
              <a:gd name="adj" fmla="val 635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459736"/>
            <a:ext cx="438912" cy="320040"/>
          </a:xfrm>
          <a:prstGeom prst="roundRect">
            <a:avLst>
              <a:gd name="adj" fmla="val 42857"/>
            </a:avLst>
          </a:prstGeom>
          <a:solidFill>
            <a:srgbClr val="D1ECE9"/>
          </a:solidFill>
          <a:ln w="12700">
            <a:solidFill>
              <a:srgbClr val="D1ECE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478024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944368"/>
            <a:ext cx="1847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+ schema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922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variables</a:t>
            </a:r>
            <a:endParaRPr lang="en-US" sz="122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32552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2880360" y="2258568"/>
            <a:ext cx="2157984" cy="2606040"/>
          </a:xfrm>
          <a:prstGeom prst="roundRect">
            <a:avLst>
              <a:gd name="adj" fmla="val 6356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2459736"/>
            <a:ext cx="438912" cy="320040"/>
          </a:xfrm>
          <a:prstGeom prst="roundRect">
            <a:avLst>
              <a:gd name="adj" fmla="val 42857"/>
            </a:avLst>
          </a:prstGeom>
          <a:solidFill>
            <a:srgbClr val="D1ECE9"/>
          </a:solidFill>
          <a:ln w="12700">
            <a:solidFill>
              <a:srgbClr val="D1ECE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27248" y="2478024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044952" y="2944368"/>
            <a:ext cx="1847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+ safety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3922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/ text screening</a:t>
            </a:r>
            <a:endParaRPr lang="en-US" sz="1220" dirty="0"/>
          </a:p>
        </p:txBody>
      </p:sp>
      <p:sp>
        <p:nvSpPr>
          <p:cNvPr id="19" name="Text 17"/>
          <p:cNvSpPr txBox="1"/>
          <p:nvPr/>
        </p:nvSpPr>
        <p:spPr>
          <a:xfrm>
            <a:off x="5020056" y="32552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221224" y="2258568"/>
            <a:ext cx="2157984" cy="2606040"/>
          </a:xfrm>
          <a:prstGeom prst="roundRect">
            <a:avLst>
              <a:gd name="adj" fmla="val 635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2459736"/>
            <a:ext cx="438912" cy="320040"/>
          </a:xfrm>
          <a:prstGeom prst="roundRect">
            <a:avLst>
              <a:gd name="adj" fmla="val 42857"/>
            </a:avLst>
          </a:prstGeom>
          <a:solidFill>
            <a:srgbClr val="D1ECE9"/>
          </a:solidFill>
          <a:ln w="12700">
            <a:solidFill>
              <a:srgbClr val="D1ECE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68112" y="2478024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385816" y="2944368"/>
            <a:ext cx="1847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extraction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385816" y="3922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Evidence-bound mapping</a:t>
            </a:r>
            <a:endParaRPr lang="en-US" sz="122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2552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7562088" y="2258568"/>
            <a:ext cx="2157984" cy="2606040"/>
          </a:xfrm>
          <a:prstGeom prst="roundRect">
            <a:avLst>
              <a:gd name="adj" fmla="val 6356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17536" y="2459736"/>
            <a:ext cx="438912" cy="320040"/>
          </a:xfrm>
          <a:prstGeom prst="roundRect">
            <a:avLst>
              <a:gd name="adj" fmla="val 42857"/>
            </a:avLst>
          </a:prstGeom>
          <a:solidFill>
            <a:srgbClr val="D1ECE9"/>
          </a:solidFill>
          <a:ln w="12700">
            <a:solidFill>
              <a:srgbClr val="D1ECE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2478024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2944368"/>
            <a:ext cx="1847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+ monitoring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3922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· alerts · LangSmith</a:t>
            </a:r>
            <a:endParaRPr lang="en-US" sz="1220" dirty="0"/>
          </a:p>
        </p:txBody>
      </p:sp>
      <p:sp>
        <p:nvSpPr>
          <p:cNvPr id="31" name="Text 29"/>
          <p:cNvSpPr txBox="1"/>
          <p:nvPr/>
        </p:nvSpPr>
        <p:spPr>
          <a:xfrm>
            <a:off x="9701784" y="325526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A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902952" y="2258568"/>
            <a:ext cx="2157984" cy="2606040"/>
          </a:xfrm>
          <a:prstGeom prst="roundRect">
            <a:avLst>
              <a:gd name="adj" fmla="val 635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0" y="2459736"/>
            <a:ext cx="438912" cy="320040"/>
          </a:xfrm>
          <a:prstGeom prst="roundRect">
            <a:avLst>
              <a:gd name="adj" fmla="val 42857"/>
            </a:avLst>
          </a:prstGeom>
          <a:solidFill>
            <a:srgbClr val="D1ECE9"/>
          </a:solidFill>
          <a:ln w="12700">
            <a:solidFill>
              <a:srgbClr val="D1ECE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49840" y="2478024"/>
            <a:ext cx="256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067544" y="2944368"/>
            <a:ext cx="1847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+ export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067544" y="3922776"/>
            <a:ext cx="18653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confirmation → XLSX</a:t>
            </a:r>
            <a:endParaRPr lang="en-US" sz="122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5349240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component has one team owner [assign names]. All five team members explain their part in the pitch.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researcher stays in control at every handoff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spoken value is not accepted just because an AI model extracted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9224" y="1975104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1984248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1911096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study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1911096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fields and units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368296"/>
            <a:ext cx="0" cy="237744"/>
          </a:xfrm>
          <a:prstGeom prst="line">
            <a:avLst/>
          </a:prstGeom>
          <a:noFill/>
          <a:ln w="19050">
            <a:solidFill>
              <a:srgbClr val="D8E2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" y="2606040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" y="2615184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542032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58768" y="2542032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Telegram text/voice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2999232"/>
            <a:ext cx="0" cy="237744"/>
          </a:xfrm>
          <a:prstGeom prst="line">
            <a:avLst/>
          </a:prstGeom>
          <a:noFill/>
          <a:ln w="19050">
            <a:solidFill>
              <a:srgbClr val="D8E2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" y="3236976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" y="3246120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" y="3172968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transcript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58768" y="3172968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words before AI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3630168"/>
            <a:ext cx="0" cy="237744"/>
          </a:xfrm>
          <a:prstGeom prst="line">
            <a:avLst/>
          </a:prstGeom>
          <a:noFill/>
          <a:ln w="19050">
            <a:solidFill>
              <a:srgbClr val="D8E2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" y="3867912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" y="3877056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" y="3803904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+ judge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58768" y="3803904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 uncertain values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2960" y="4261104"/>
            <a:ext cx="0" cy="237744"/>
          </a:xfrm>
          <a:prstGeom prst="line">
            <a:avLst/>
          </a:prstGeom>
          <a:noFill/>
          <a:ln w="19050">
            <a:solidFill>
              <a:srgbClr val="D8E2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" y="4498848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" y="4507992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" y="4434840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858768" y="4434840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and approve all fields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22960" y="4892040"/>
            <a:ext cx="0" cy="237744"/>
          </a:xfrm>
          <a:prstGeom prst="line">
            <a:avLst/>
          </a:prstGeom>
          <a:noFill/>
          <a:ln w="19050">
            <a:solidFill>
              <a:srgbClr val="D8E2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" y="5129784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" y="5138928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" y="5065776"/>
            <a:ext cx="29077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858768" y="5065776"/>
            <a:ext cx="7040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researcher-approved XLSX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06056" y="5806440"/>
            <a:ext cx="4206240" cy="365760"/>
          </a:xfrm>
          <a:prstGeom prst="roundRect">
            <a:avLst>
              <a:gd name="adj" fmla="val 37500"/>
            </a:avLst>
          </a:prstGeom>
          <a:solidFill>
            <a:srgbClr val="FEF0D8"/>
          </a:solidFill>
          <a:ln w="12700">
            <a:solidFill>
              <a:srgbClr val="FEF0D8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97496" y="58247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6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CLINICAL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LIVE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synthetic follow-up from message to Excel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current Telegram workflow; keep voice optional to reduce live-demo uncertainty.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947672"/>
            <a:ext cx="6519672" cy="3557016"/>
          </a:xfrm>
          <a:prstGeom prst="roundRect">
            <a:avLst>
              <a:gd name="adj" fmla="val 3856"/>
            </a:avLst>
          </a:prstGeom>
          <a:solidFill>
            <a:srgbClr val="14243A"/>
          </a:solidFill>
          <a:ln w="12700">
            <a:solidFill>
              <a:srgbClr val="14243A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227685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DC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Telegram demo input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32104" y="2816352"/>
            <a:ext cx="5788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patient is 54 years old and HbA1c is 6.2 percent.”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32104" y="4718304"/>
            <a:ext cx="3337560" cy="365760"/>
          </a:xfrm>
          <a:prstGeom prst="roundRect">
            <a:avLst>
              <a:gd name="adj" fmla="val 37500"/>
            </a:avLst>
          </a:prstGeom>
          <a:solidFill>
            <a:srgbClr val="21445B"/>
          </a:solidFill>
          <a:ln w="12700">
            <a:solidFill>
              <a:srgbClr val="21445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" y="473659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E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CASE  ·  TRACE-DEMO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42632" y="1965960"/>
            <a:ext cx="4270248" cy="996696"/>
          </a:xfrm>
          <a:prstGeom prst="roundRect">
            <a:avLst>
              <a:gd name="adj" fmla="val 1376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2632" y="1965960"/>
            <a:ext cx="54864" cy="996696"/>
          </a:xfrm>
          <a:prstGeom prst="rect">
            <a:avLst>
              <a:gd name="adj" fmla="val 250000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52944" y="2148840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552944" y="2615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 years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7342632" y="3136392"/>
            <a:ext cx="4270248" cy="996696"/>
          </a:xfrm>
          <a:prstGeom prst="roundRect">
            <a:avLst>
              <a:gd name="adj" fmla="val 1376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42632" y="3136392"/>
            <a:ext cx="54864" cy="996696"/>
          </a:xfrm>
          <a:prstGeom prst="rect">
            <a:avLst>
              <a:gd name="adj" fmla="val 250000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52944" y="3319272"/>
            <a:ext cx="3831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HbA1c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52944" y="3785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 percent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351776" y="4507992"/>
            <a:ext cx="4270248" cy="914400"/>
          </a:xfrm>
          <a:prstGeom prst="roundRect">
            <a:avLst>
              <a:gd name="adj" fmla="val 15000"/>
            </a:avLst>
          </a:prstGeom>
          <a:solidFill>
            <a:srgbClr val="E4F3ED"/>
          </a:solidFill>
          <a:ln w="12700">
            <a:solidFill>
              <a:srgbClr val="E4F3ED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62088" y="4663440"/>
            <a:ext cx="3858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 checks → confirms → XLSX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RESULTS &amp;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team has actually demonstrated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documented Phase 4 synthetic scenario; not a validated performance benchmark.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002536"/>
            <a:ext cx="5358384" cy="1463040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2311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2295144" y="2258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alert triggered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660904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Ambiguous HbA1c variable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2002536"/>
            <a:ext cx="5358384" cy="1463040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2311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2258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XLSX delivered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918704" y="2660904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manual correction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85032"/>
            <a:ext cx="5358384" cy="1463040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9136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4.6/5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2295144" y="39410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AI judge score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304288" y="434340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uncalibrated evaluation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81344" y="3685032"/>
            <a:ext cx="5358384" cy="1463040"/>
          </a:xfrm>
          <a:prstGeom prst="roundRect">
            <a:avLst>
              <a:gd name="adj" fmla="val 9375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9136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10.49 s</a:t>
            </a:r>
            <a:endParaRPr lang="en-US" sz="290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9410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processing duration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918704" y="4343400"/>
            <a:ext cx="3310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 portion only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" y="5751576"/>
            <a:ext cx="110093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judge score is not clinical accuracy. No measured time savings, production reliability or financial ROI are claimed.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QA &amp; MONITORING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failure: the model did not silently fill a mismatch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voice transcript used an altered HbA1c field name; the workflow flagged it for researcher correction.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020824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Factual 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19272" y="2057400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9272" y="2057400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98864" y="1984248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6517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19272" y="2688336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2688336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98864" y="2615184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2826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compliance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19272" y="3319272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9272" y="3319272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98864" y="3246120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39136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adherence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19272" y="3950208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9272" y="3950208"/>
            <a:ext cx="3291840" cy="201168"/>
          </a:xfrm>
          <a:prstGeom prst="roundRect">
            <a:avLst>
              <a:gd name="adj" fmla="val 68182"/>
            </a:avLst>
          </a:prstGeom>
          <a:solidFill>
            <a:srgbClr val="D39236"/>
          </a:solidFill>
          <a:ln w="12700">
            <a:solidFill>
              <a:srgbClr val="D3923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98864" y="3877056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5445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/ neutrality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19272" y="4581144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EAF4F7"/>
          </a:solidFill>
          <a:ln w="12700">
            <a:solidFill>
              <a:srgbClr val="EAF4F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9272" y="4581144"/>
            <a:ext cx="5486400" cy="201168"/>
          </a:xfrm>
          <a:prstGeom prst="roundRect">
            <a:avLst>
              <a:gd name="adj" fmla="val 68182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98864" y="4507992"/>
            <a:ext cx="603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4088" y="5431536"/>
            <a:ext cx="10789920" cy="566928"/>
          </a:xfrm>
          <a:prstGeom prst="roundRect">
            <a:avLst>
              <a:gd name="adj" fmla="val 24194"/>
            </a:avLst>
          </a:prstGeom>
          <a:solidFill>
            <a:srgbClr val="FFF3DD"/>
          </a:solidFill>
          <a:ln w="12700">
            <a:solidFill>
              <a:srgbClr val="FFF3DD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3544" y="55321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7B56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Overall: needs review. A soft alert prompted a manual correction before approved export.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KPIS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will be measured — not assumed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targets below are proposed; actual pilot KPI results are still pending.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47672"/>
            <a:ext cx="10991088" cy="484632"/>
          </a:xfrm>
          <a:prstGeom prst="roundRect">
            <a:avLst>
              <a:gd name="adj" fmla="val 28302"/>
            </a:avLst>
          </a:prstGeom>
          <a:solidFill>
            <a:srgbClr val="14243A"/>
          </a:solidFill>
          <a:ln w="12700">
            <a:solidFill>
              <a:srgbClr val="14243A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34198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057400"/>
            <a:ext cx="2651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BASELINE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21424" y="2057400"/>
            <a:ext cx="22494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TARGET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0" y="2057400"/>
            <a:ext cx="2194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" y="2523744"/>
            <a:ext cx="10963656" cy="521208"/>
          </a:xfrm>
          <a:prstGeom prst="rect">
            <a:avLst>
              <a:gd name="adj" fmla="val 2631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24328"/>
            <a:ext cx="3419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 time / visit</a:t>
            </a:r>
            <a:endParaRPr lang="en-US" sz="127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62432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planning estimate</a:t>
            </a:r>
            <a:endParaRPr lang="en-US" sz="1180" dirty="0"/>
          </a:p>
        </p:txBody>
      </p:sp>
      <p:sp>
        <p:nvSpPr>
          <p:cNvPr id="16" name="Text 14"/>
          <p:cNvSpPr txBox="1"/>
          <p:nvPr/>
        </p:nvSpPr>
        <p:spPr>
          <a:xfrm>
            <a:off x="6821424" y="2624328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5 min</a:t>
            </a:r>
            <a:endParaRPr lang="en-US" sz="118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6243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12648" y="3063240"/>
            <a:ext cx="10963656" cy="521208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163824"/>
            <a:ext cx="3419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field agreement</a:t>
            </a:r>
            <a:endParaRPr lang="en-US" sz="127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316382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pending</a:t>
            </a:r>
            <a:endParaRPr lang="en-US" sz="118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3163824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95%</a:t>
            </a:r>
            <a:endParaRPr lang="en-US" sz="118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163824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2648" y="3602736"/>
            <a:ext cx="10963656" cy="521208"/>
          </a:xfrm>
          <a:prstGeom prst="rect">
            <a:avLst>
              <a:gd name="adj" fmla="val 2631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703320"/>
            <a:ext cx="3419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rate</a:t>
            </a:r>
            <a:endParaRPr lang="en-US" sz="127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370332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pending</a:t>
            </a:r>
            <a:endParaRPr lang="en-US" sz="1180" dirty="0"/>
          </a:p>
        </p:txBody>
      </p:sp>
      <p:sp>
        <p:nvSpPr>
          <p:cNvPr id="26" name="Text 24"/>
          <p:cNvSpPr txBox="1"/>
          <p:nvPr/>
        </p:nvSpPr>
        <p:spPr>
          <a:xfrm>
            <a:off x="6821424" y="3703320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15%</a:t>
            </a:r>
            <a:endParaRPr lang="en-US" sz="118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703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12648" y="4142232"/>
            <a:ext cx="10963656" cy="521208"/>
          </a:xfrm>
          <a:prstGeom prst="rect">
            <a:avLst>
              <a:gd name="adj" fmla="val 263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242816"/>
            <a:ext cx="3419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XLSX success</a:t>
            </a:r>
            <a:endParaRPr lang="en-US" sz="127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424281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pending</a:t>
            </a:r>
            <a:endParaRPr lang="en-US" sz="1180" dirty="0"/>
          </a:p>
        </p:txBody>
      </p:sp>
      <p:sp>
        <p:nvSpPr>
          <p:cNvPr id="31" name="Text 29"/>
          <p:cNvSpPr txBox="1"/>
          <p:nvPr/>
        </p:nvSpPr>
        <p:spPr>
          <a:xfrm>
            <a:off x="6821424" y="424281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95%</a:t>
            </a:r>
            <a:endParaRPr lang="en-US" sz="1180" dirty="0"/>
          </a:p>
        </p:txBody>
      </p:sp>
      <p:sp>
        <p:nvSpPr>
          <p:cNvPr id="32" name="Text 30"/>
          <p:cNvSpPr txBox="1"/>
          <p:nvPr/>
        </p:nvSpPr>
        <p:spPr>
          <a:xfrm>
            <a:off x="9144000" y="424281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demo; no benchmark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12648" y="4681728"/>
            <a:ext cx="10963656" cy="521208"/>
          </a:xfrm>
          <a:prstGeom prst="rect">
            <a:avLst>
              <a:gd name="adj" fmla="val 26316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4782312"/>
            <a:ext cx="3419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 ease score</a:t>
            </a:r>
            <a:endParaRPr lang="en-US" sz="1270" dirty="0"/>
          </a:p>
        </p:txBody>
      </p:sp>
      <p:sp>
        <p:nvSpPr>
          <p:cNvPr id="35" name="Text 33"/>
          <p:cNvSpPr txBox="1"/>
          <p:nvPr/>
        </p:nvSpPr>
        <p:spPr>
          <a:xfrm>
            <a:off x="4114800" y="478231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pending</a:t>
            </a:r>
            <a:endParaRPr lang="en-US" sz="118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4782312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4/5</a:t>
            </a:r>
            <a:endParaRPr lang="en-US" sz="1180" dirty="0"/>
          </a:p>
        </p:txBody>
      </p:sp>
      <p:sp>
        <p:nvSpPr>
          <p:cNvPr id="37" name="Text 35"/>
          <p:cNvSpPr txBox="1"/>
          <p:nvPr/>
        </p:nvSpPr>
        <p:spPr>
          <a:xfrm>
            <a:off x="9144000" y="478231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measured</a:t>
            </a:r>
            <a:endParaRPr lang="en-US" sz="1180" dirty="0"/>
          </a:p>
        </p:txBody>
      </p:sp>
      <p:sp>
        <p:nvSpPr>
          <p:cNvPr id="38" name="Text 36"/>
          <p:cNvSpPr txBox="1"/>
          <p:nvPr/>
        </p:nvSpPr>
        <p:spPr>
          <a:xfrm>
            <a:off x="722376" y="573328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ROI or clinical benefit claim until the proposed baseline is checked in paired synthetic trials.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SAFETY AND LIMITS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is a requirement, not a marketing feature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is assistive research data capture — never diagnosis or prescribing.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920240"/>
            <a:ext cx="5394960" cy="3611880"/>
          </a:xfrm>
          <a:prstGeom prst="roundRect">
            <a:avLst>
              <a:gd name="adj" fmla="val 3797"/>
            </a:avLst>
          </a:prstGeom>
          <a:solidFill>
            <a:srgbClr val="E9F6F2"/>
          </a:solidFill>
          <a:ln w="12700">
            <a:solidFill>
              <a:srgbClr val="E9F6F2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IN PROTOTYPE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26700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660904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Study-approved variable schema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" y="31272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16152" y="3118104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 confirmation and editable fields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3584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575304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Missing/conflict warnings before export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40416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4032504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researcher approval and XLSX delivery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" y="44988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94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16152" y="4489704"/>
            <a:ext cx="4480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QA, soft alerts and LangSmith checkpoint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0488" y="1920240"/>
            <a:ext cx="5376672" cy="3611880"/>
          </a:xfrm>
          <a:prstGeom prst="roundRect">
            <a:avLst>
              <a:gd name="adj" fmla="val 3797"/>
            </a:avLst>
          </a:prstGeom>
          <a:solidFill>
            <a:srgbClr val="FFF5E8"/>
          </a:solidFill>
          <a:ln w="12700">
            <a:solidFill>
              <a:srgbClr val="FFF5E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37376" y="214884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64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/ PILOT GATES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2660904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57416" y="2651760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 checks are best-effort; voice reaches Groq first</a:t>
            </a:r>
            <a:endParaRPr lang="en-US" sz="127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3118104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57416" y="3108960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 static storage is not a clinical database</a:t>
            </a:r>
            <a:endParaRPr lang="en-US" sz="127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3575304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757416" y="3566160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judge is not independently calibrated</a:t>
            </a:r>
            <a:endParaRPr lang="en-US" sz="1270" dirty="0"/>
          </a:p>
        </p:txBody>
      </p:sp>
      <p:sp>
        <p:nvSpPr>
          <p:cNvPr id="28" name="Text 26"/>
          <p:cNvSpPr txBox="1"/>
          <p:nvPr/>
        </p:nvSpPr>
        <p:spPr>
          <a:xfrm>
            <a:off x="6455664" y="4032504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757416" y="4023360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LangSmith logs a QA checkpoint, not every call</a:t>
            </a:r>
            <a:endParaRPr lang="en-US" sz="127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4489704"/>
            <a:ext cx="210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757416" y="4480560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IRB/privacy/security approval needed before real data</a:t>
            </a:r>
            <a:endParaRPr lang="en-US" sz="12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60" kern="0" dirty="0">
                <a:solidFill>
                  <a:srgbClr val="0E86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pilot — before claims of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57784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are requesting evaluation access and feedback, not claiming an existing purchase or clinical deployment.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11082528" cy="0"/>
          </a:xfrm>
          <a:prstGeom prst="line">
            <a:avLst/>
          </a:prstGeom>
          <a:noFill/>
          <a:ln w="8255">
            <a:solidFill>
              <a:srgbClr val="D8E2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6592824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  |  DEPI AI HEALTHCARE  |  SYNTHETIC DEMO ONLY</a:t>
            </a:r>
            <a:endParaRPr lang="en-US" sz="840" dirty="0"/>
          </a:p>
        </p:txBody>
      </p:sp>
      <p:sp>
        <p:nvSpPr>
          <p:cNvPr id="7" name="Text 5"/>
          <p:cNvSpPr txBox="1"/>
          <p:nvPr/>
        </p:nvSpPr>
        <p:spPr>
          <a:xfrm>
            <a:off x="11128248" y="6574536"/>
            <a:ext cx="493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D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04088" y="2029968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" y="2039112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938528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problem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938528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researcher interviews (target), confirm buyer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" y="2423160"/>
            <a:ext cx="0" cy="448056"/>
          </a:xfrm>
          <a:prstGeom prst="line">
            <a:avLst/>
          </a:prstGeom>
          <a:noFill/>
          <a:ln w="15240">
            <a:solidFill>
              <a:srgbClr val="D8E2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2944368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2953512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852928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controlled synthetic pilot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852928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proposed testers, 2 interested research teams (targets)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3337560"/>
            <a:ext cx="0" cy="448056"/>
          </a:xfrm>
          <a:prstGeom prst="line">
            <a:avLst/>
          </a:prstGeom>
          <a:noFill/>
          <a:ln w="15240">
            <a:solidFill>
              <a:srgbClr val="D8E2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3858768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867912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767328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 &amp; measure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767328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human raters, KPIs, end-to-end cases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1540" y="4251960"/>
            <a:ext cx="0" cy="448056"/>
          </a:xfrm>
          <a:prstGeom prst="line">
            <a:avLst/>
          </a:prstGeom>
          <a:noFill/>
          <a:ln w="15240">
            <a:solidFill>
              <a:srgbClr val="D8E2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" y="4773168"/>
            <a:ext cx="374904" cy="374904"/>
          </a:xfrm>
          <a:prstGeom prst="ellipse">
            <a:avLst/>
          </a:prstGeom>
          <a:solidFill>
            <a:srgbClr val="17A998"/>
          </a:solidFill>
          <a:ln w="12700">
            <a:solidFill>
              <a:srgbClr val="17A99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782312"/>
            <a:ext cx="374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681728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on readiness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681728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F61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privacy, IRB and durable-data plan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5897880"/>
            <a:ext cx="10853928" cy="411480"/>
          </a:xfrm>
          <a:prstGeom prst="roundRect">
            <a:avLst>
              <a:gd name="adj" fmla="val 33333"/>
            </a:avLst>
          </a:prstGeom>
          <a:solidFill>
            <a:srgbClr val="14243A"/>
          </a:solidFill>
          <a:ln w="12700">
            <a:solidFill>
              <a:srgbClr val="14243A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952744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ask: permission for a researcher-led synthetic pilot, access to reviewers, and feedback from a potential buyer.</a:t>
            </a:r>
            <a:endParaRPr lang="en-US" sz="12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>
              <a:gd name="adj" fmla="val 83333"/>
            </a:avLst>
          </a:prstGeom>
          <a:solidFill>
            <a:srgbClr val="17A998"/>
          </a:solidFill>
          <a:ln w="12700">
            <a:solidFill>
              <a:srgbClr val="17A99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2376" y="1408176"/>
            <a:ext cx="1078992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better research record starts with a reviewed draft.</a:t>
            </a:r>
            <a:endParaRPr lang="en-US" sz="37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14553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4D9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ResearchVoice AI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05993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2E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• Safety • Workflow • Evidence • Pilot readiness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5257800"/>
            <a:ext cx="5010912" cy="484632"/>
          </a:xfrm>
          <a:prstGeom prst="roundRect">
            <a:avLst>
              <a:gd name="adj" fmla="val 28302"/>
            </a:avLst>
          </a:prstGeom>
          <a:solidFill>
            <a:srgbClr val="1E3A4C"/>
          </a:solidFill>
          <a:ln w="12700">
            <a:solidFill>
              <a:srgbClr val="1E3A4C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5276088"/>
            <a:ext cx="4828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D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 |  SYNTHETIC INPUTS  |  HUMAN APPROVAL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61813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3C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presenters · Roles to assign before rehearsal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DEPI AI Healthcare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ResearchVoice AI | DEPI Final Business Pitch (Draft)</dc:title>
  <dc:subject>ResearchVoice AI clinical research data capture synthetic-only business pitch</dc:subject>
  <dc:creator>ResearchVoice AI — DEPI graduation team</dc:creator>
  <cp:lastModifiedBy>ResearchVoice AI — DEPI graduation team</cp:lastModifiedBy>
  <cp:revision>1</cp:revision>
  <dcterms:created xsi:type="dcterms:W3CDTF">2026-10-26T20:15:16Z</dcterms:created>
  <dcterms:modified xsi:type="dcterms:W3CDTF">2026-10-26T20:15:16Z</dcterms:modified>
</cp:coreProperties>
</file>